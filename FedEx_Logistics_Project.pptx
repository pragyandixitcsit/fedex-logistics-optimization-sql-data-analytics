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3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4837" autoAdjust="0"/>
  </p:normalViewPr>
  <p:slideViewPr>
    <p:cSldViewPr snapToGrid="0">
      <p:cViewPr varScale="1">
        <p:scale>
          <a:sx n="70" d="100"/>
          <a:sy n="70" d="100"/>
        </p:scale>
        <p:origin x="116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B5D40B-F160-45F7-9354-237C7F31FB20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5401BB-2E6F-4DC1-9204-A7786799D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568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01BB-2E6F-4DC1-9204-A7786799D0E5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668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01BB-2E6F-4DC1-9204-A7786799D0E5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858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01BB-2E6F-4DC1-9204-A7786799D0E5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334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01BB-2E6F-4DC1-9204-A7786799D0E5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53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01BB-2E6F-4DC1-9204-A7786799D0E5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739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8/21/2026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7C9BD5-85C0-4C4D-963E-97AEE5CA6D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896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D00F5DA-C321-4895-851A-AC18839908E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7C9BD5-85C0-4C4D-963E-97AEE5CA6D7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8928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6D00F5DA-C321-4895-851A-AC18839908E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4E7C9BD5-85C0-4C4D-963E-97AEE5CA6D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884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0F5DA-C321-4895-851A-AC18839908E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C9BD5-85C0-4C4D-963E-97AEE5CA6D71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648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3209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8/21/2026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7C9BD5-85C0-4C4D-963E-97AEE5CA6D71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9970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D00F5DA-C321-4895-851A-AC18839908E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7C9BD5-85C0-4C4D-963E-97AEE5CA6D71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36235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D00F5DA-C321-4895-851A-AC18839908E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7C9BD5-85C0-4C4D-963E-97AEE5CA6D7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505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D00F5DA-C321-4895-851A-AC18839908E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7C9BD5-85C0-4C4D-963E-97AEE5CA6D7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8867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6D00F5DA-C321-4895-851A-AC18839908E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4E7C9BD5-85C0-4C4D-963E-97AEE5CA6D7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8885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6D00F5DA-C321-4895-851A-AC18839908E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4E7C9BD5-85C0-4C4D-963E-97AEE5CA6D7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609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6D00F5DA-C321-4895-851A-AC18839908E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7C9BD5-85C0-4C4D-963E-97AEE5CA6D7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128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0F5DA-C321-4895-851A-AC18839908E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C9BD5-85C0-4C4D-963E-97AEE5CA6D7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71896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D00F5DA-C321-4895-851A-AC18839908E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4E7C9BD5-85C0-4C4D-963E-97AEE5CA6D7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22380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6D00F5DA-C321-4895-851A-AC18839908E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4E7C9BD5-85C0-4C4D-963E-97AEE5CA6D7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91006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6D00F5DA-C321-4895-851A-AC18839908E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4E7C9BD5-85C0-4C4D-963E-97AEE5CA6D71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4964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D00F5DA-C321-4895-851A-AC18839908E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7C9BD5-85C0-4C4D-963E-97AEE5CA6D71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2701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D00F5DA-C321-4895-851A-AC18839908E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7C9BD5-85C0-4C4D-963E-97AEE5CA6D71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85604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D00F5DA-C321-4895-851A-AC18839908E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7C9BD5-85C0-4C4D-963E-97AEE5CA6D71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2417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D00F5DA-C321-4895-851A-AC18839908E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7C9BD5-85C0-4C4D-963E-97AEE5CA6D71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09389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BDAA3E-BE52-42BC-99E8-CCCB81A57ABD}" type="datetime1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E7C9BD5-85C0-4C4D-963E-97AEE5CA6D71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11144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D00F5DA-C321-4895-851A-AC18839908E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7C9BD5-85C0-4C4D-963E-97AEE5CA6D71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45775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D00F5DA-C321-4895-851A-AC18839908E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7C9BD5-85C0-4C4D-963E-97AEE5CA6D71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22375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D00F5DA-C321-4895-851A-AC18839908E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7C9BD5-85C0-4C4D-963E-97AEE5CA6D71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66449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D00F5DA-C321-4895-851A-AC18839908E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7C9BD5-85C0-4C4D-963E-97AEE5CA6D71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6355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0F5DA-C321-4895-851A-AC18839908E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C9BD5-85C0-4C4D-963E-97AEE5CA6D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4817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0F5DA-C321-4895-851A-AC18839908E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C9BD5-85C0-4C4D-963E-97AEE5CA6D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999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6D00F5DA-C321-4895-851A-AC18839908E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4E7C9BD5-85C0-4C4D-963E-97AEE5CA6D71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3803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46" r:id="rId3"/>
    <p:sldLayoutId id="2147483947" r:id="rId4"/>
    <p:sldLayoutId id="2147483948" r:id="rId5"/>
    <p:sldLayoutId id="2147483949" r:id="rId6"/>
    <p:sldLayoutId id="2147483950" r:id="rId7"/>
    <p:sldLayoutId id="2147483951" r:id="rId8"/>
    <p:sldLayoutId id="2147483952" r:id="rId9"/>
    <p:sldLayoutId id="2147483953" r:id="rId10"/>
    <p:sldLayoutId id="2147483954" r:id="rId11"/>
    <p:sldLayoutId id="2147483955" r:id="rId12"/>
    <p:sldLayoutId id="2147483956" r:id="rId13"/>
    <p:sldLayoutId id="2147483957" r:id="rId14"/>
    <p:sldLayoutId id="2147483958" r:id="rId15"/>
    <p:sldLayoutId id="2147483959" r:id="rId16"/>
    <p:sldLayoutId id="2147483960" r:id="rId17"/>
    <p:sldLayoutId id="2147483961" r:id="rId18"/>
    <p:sldLayoutId id="2147483962" r:id="rId19"/>
    <p:sldLayoutId id="2147483963" r:id="rId20"/>
    <p:sldLayoutId id="2147483964" r:id="rId21"/>
    <p:sldLayoutId id="2147483965" r:id="rId22"/>
    <p:sldLayoutId id="2147483966" r:id="rId23"/>
    <p:sldLayoutId id="2147483967" r:id="rId24"/>
    <p:sldLayoutId id="2147483968" r:id="rId25"/>
    <p:sldLayoutId id="2147483969" r:id="rId26"/>
    <p:sldLayoutId id="2147483970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343A1F-9FDD-C5D1-9253-FEF618002BC0}"/>
              </a:ext>
            </a:extLst>
          </p:cNvPr>
          <p:cNvSpPr txBox="1"/>
          <p:nvPr/>
        </p:nvSpPr>
        <p:spPr>
          <a:xfrm>
            <a:off x="1307690" y="1012723"/>
            <a:ext cx="831809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b="1" u="sng" dirty="0"/>
              <a:t>Logistics Optimization for Delivery Routes – FedEx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MySQL Data Analytics Project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Presented by: </a:t>
            </a:r>
            <a:r>
              <a:rPr lang="en-IN" dirty="0"/>
              <a:t>Pragyan Dixit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Technology: </a:t>
            </a:r>
            <a:r>
              <a:rPr lang="en-IN" dirty="0"/>
              <a:t>MySQL | SQL | Data Analytics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Project Focus: </a:t>
            </a:r>
            <a:r>
              <a:rPr lang="en-IN" dirty="0"/>
              <a:t>Shipment Performance 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• Route Optimization </a:t>
            </a:r>
          </a:p>
          <a:p>
            <a:pPr>
              <a:buNone/>
            </a:pPr>
            <a:r>
              <a:rPr lang="en-IN" dirty="0"/>
              <a:t>• Warehouse Performance </a:t>
            </a:r>
          </a:p>
          <a:p>
            <a:pPr>
              <a:buNone/>
            </a:pPr>
            <a:r>
              <a:rPr lang="en-IN" dirty="0"/>
              <a:t>• Delivery Agent Analysis</a:t>
            </a:r>
          </a:p>
          <a:p>
            <a:pPr>
              <a:buNone/>
            </a:pPr>
            <a:r>
              <a:rPr lang="en-IN" dirty="0"/>
              <a:t> </a:t>
            </a:r>
            <a:r>
              <a:rPr lang="en-IN" b="1" dirty="0"/>
              <a:t>Course Project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4191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528ED0-9D38-2634-2136-75A11BE534B4}"/>
              </a:ext>
            </a:extLst>
          </p:cNvPr>
          <p:cNvSpPr txBox="1"/>
          <p:nvPr/>
        </p:nvSpPr>
        <p:spPr>
          <a:xfrm>
            <a:off x="707923" y="1030801"/>
            <a:ext cx="1104162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Project Overview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Objective</a:t>
            </a:r>
          </a:p>
          <a:p>
            <a:pPr>
              <a:buNone/>
            </a:pPr>
            <a:r>
              <a:rPr lang="en-IN" dirty="0"/>
              <a:t>Build a SQL-driven logistics analytics system to </a:t>
            </a:r>
            <a:r>
              <a:rPr lang="en-IN" dirty="0" err="1"/>
              <a:t>analyze</a:t>
            </a:r>
            <a:r>
              <a:rPr lang="en-IN" dirty="0"/>
              <a:t> shipment performance, optimize delivery routes, and improve delivery efficiency across the FedEx logistics network.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Key Areas of Analysis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Delivery delay patterns and operational inefficiencies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Route and hub performance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Warehouse performance and utilization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Delivery agent performance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Shipment tracking and bottlenecks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Advanced logistics KPIs</a:t>
            </a:r>
          </a:p>
          <a:p>
            <a:pPr lvl="0"/>
            <a:endParaRPr lang="en-IN" dirty="0"/>
          </a:p>
          <a:p>
            <a:pPr>
              <a:buNone/>
            </a:pPr>
            <a:r>
              <a:rPr lang="en-IN" b="1" dirty="0"/>
              <a:t>Expected Outcome</a:t>
            </a:r>
          </a:p>
          <a:p>
            <a:pPr>
              <a:buNone/>
            </a:pPr>
            <a:r>
              <a:rPr lang="en-IN" dirty="0"/>
              <a:t>Use SQL-based data analysis to identify operational problems and provide actionable recommendations for improving delivery reliability and cost efficiency.</a:t>
            </a:r>
          </a:p>
        </p:txBody>
      </p:sp>
    </p:spTree>
    <p:extLst>
      <p:ext uri="{BB962C8B-B14F-4D97-AF65-F5344CB8AC3E}">
        <p14:creationId xmlns:p14="http://schemas.microsoft.com/office/powerpoint/2010/main" val="979810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1B8705-84AA-FB94-0817-A9694F954610}"/>
              </a:ext>
            </a:extLst>
          </p:cNvPr>
          <p:cNvSpPr txBox="1"/>
          <p:nvPr/>
        </p:nvSpPr>
        <p:spPr>
          <a:xfrm>
            <a:off x="221226" y="1024867"/>
            <a:ext cx="1174954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Dataset Description</a:t>
            </a:r>
          </a:p>
          <a:p>
            <a:pPr>
              <a:buNone/>
            </a:pPr>
            <a:r>
              <a:rPr lang="en-IN" dirty="0"/>
              <a:t>The project uses five datasets to </a:t>
            </a:r>
            <a:r>
              <a:rPr lang="en-IN" dirty="0" err="1"/>
              <a:t>analyze</a:t>
            </a:r>
            <a:r>
              <a:rPr lang="en-IN" dirty="0"/>
              <a:t> FedEx logistics operations.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1. Orders Table</a:t>
            </a:r>
          </a:p>
          <a:p>
            <a:pPr>
              <a:buNone/>
            </a:pPr>
            <a:r>
              <a:rPr lang="en-IN" dirty="0"/>
              <a:t>Contains order details such as Order ID, Customer ID, Order Date, Route ID, Warehouse ID, Order Amount, Delivery Type and Payment Mode.</a:t>
            </a:r>
          </a:p>
          <a:p>
            <a:pPr>
              <a:buNone/>
            </a:pPr>
            <a:r>
              <a:rPr lang="en-IN" b="1" dirty="0"/>
              <a:t>2. Routes Table</a:t>
            </a:r>
          </a:p>
          <a:p>
            <a:pPr>
              <a:buNone/>
            </a:pPr>
            <a:r>
              <a:rPr lang="en-IN" dirty="0"/>
              <a:t>Contains route information including source and destination cities, countries, distance and average transit time.</a:t>
            </a:r>
          </a:p>
          <a:p>
            <a:pPr>
              <a:buNone/>
            </a:pPr>
            <a:r>
              <a:rPr lang="en-IN" b="1" dirty="0"/>
              <a:t>3. Warehouses Table</a:t>
            </a:r>
          </a:p>
          <a:p>
            <a:pPr>
              <a:buNone/>
            </a:pPr>
            <a:r>
              <a:rPr lang="en-IN" dirty="0"/>
              <a:t>Contains warehouse location, daily capacity and manager information.</a:t>
            </a:r>
          </a:p>
          <a:p>
            <a:pPr>
              <a:buNone/>
            </a:pPr>
            <a:r>
              <a:rPr lang="en-IN" b="1" dirty="0"/>
              <a:t>4. Delivery Agents Table</a:t>
            </a:r>
          </a:p>
          <a:p>
            <a:pPr>
              <a:buNone/>
            </a:pPr>
            <a:r>
              <a:rPr lang="en-IN" dirty="0"/>
              <a:t>Contains agent details including assigned zone, country, experience and average customer rating.</a:t>
            </a:r>
          </a:p>
          <a:p>
            <a:pPr>
              <a:buNone/>
            </a:pPr>
            <a:r>
              <a:rPr lang="en-IN" b="1" dirty="0"/>
              <a:t>5. Shipment Tracking Table</a:t>
            </a:r>
          </a:p>
          <a:p>
            <a:pPr>
              <a:buNone/>
            </a:pPr>
            <a:r>
              <a:rPr lang="en-IN" dirty="0"/>
              <a:t>Contains shipment tracking information including pickup date, delivery date, delivery status, delay hours and customer feedback.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Database Relationships</a:t>
            </a:r>
          </a:p>
          <a:p>
            <a:pPr>
              <a:buNone/>
            </a:pPr>
            <a:r>
              <a:rPr lang="en-IN" dirty="0"/>
              <a:t>Orders → Shipments → Routes</a:t>
            </a:r>
            <a:br>
              <a:rPr lang="en-IN" dirty="0"/>
            </a:br>
            <a:r>
              <a:rPr lang="en-IN" dirty="0"/>
              <a:t>Shipments → Warehouses</a:t>
            </a:r>
            <a:br>
              <a:rPr lang="en-IN" dirty="0"/>
            </a:br>
            <a:r>
              <a:rPr lang="en-IN" dirty="0"/>
              <a:t>Shipments → Delivery Agents</a:t>
            </a:r>
          </a:p>
        </p:txBody>
      </p:sp>
    </p:spTree>
    <p:extLst>
      <p:ext uri="{BB962C8B-B14F-4D97-AF65-F5344CB8AC3E}">
        <p14:creationId xmlns:p14="http://schemas.microsoft.com/office/powerpoint/2010/main" val="43393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E5D413-FEA6-FFC4-F3CF-09EF8A52A7A9}"/>
              </a:ext>
            </a:extLst>
          </p:cNvPr>
          <p:cNvSpPr txBox="1"/>
          <p:nvPr/>
        </p:nvSpPr>
        <p:spPr>
          <a:xfrm>
            <a:off x="875071" y="1068433"/>
            <a:ext cx="11316929" cy="566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000" b="1" dirty="0"/>
              <a:t>Database Structure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Database Name </a:t>
            </a:r>
            <a:r>
              <a:rPr lang="en-IN" b="1" dirty="0" err="1"/>
              <a:t>fedex_db</a:t>
            </a:r>
            <a:endParaRPr lang="en-IN" b="1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Tables Used</a:t>
            </a:r>
          </a:p>
          <a:p>
            <a:pPr>
              <a:buNone/>
            </a:pPr>
            <a:r>
              <a:rPr lang="en-IN" b="1" dirty="0"/>
              <a:t>1. fedex_orders.xlsx</a:t>
            </a:r>
            <a:br>
              <a:rPr lang="en-IN" dirty="0"/>
            </a:br>
            <a:r>
              <a:rPr lang="en-IN" dirty="0"/>
              <a:t>Order and customer-related information</a:t>
            </a:r>
          </a:p>
          <a:p>
            <a:pPr>
              <a:buNone/>
            </a:pPr>
            <a:r>
              <a:rPr lang="en-IN" b="1" dirty="0"/>
              <a:t>2. fedex_routes.xlsx</a:t>
            </a:r>
            <a:br>
              <a:rPr lang="en-IN" dirty="0"/>
            </a:br>
            <a:r>
              <a:rPr lang="en-IN" dirty="0"/>
              <a:t>Route, distance and transit-time information</a:t>
            </a:r>
          </a:p>
          <a:p>
            <a:pPr>
              <a:buNone/>
            </a:pPr>
            <a:r>
              <a:rPr lang="en-IN" b="1" dirty="0"/>
              <a:t>3. fedex_warehouses.xlsx</a:t>
            </a:r>
            <a:br>
              <a:rPr lang="en-IN" dirty="0"/>
            </a:br>
            <a:r>
              <a:rPr lang="en-IN" dirty="0"/>
              <a:t>Warehouse location and capacity information</a:t>
            </a:r>
          </a:p>
          <a:p>
            <a:pPr>
              <a:buNone/>
            </a:pPr>
            <a:r>
              <a:rPr lang="en-IN" b="1" dirty="0"/>
              <a:t>4. fedex_delivery_agents.xlsx</a:t>
            </a:r>
            <a:br>
              <a:rPr lang="en-IN" dirty="0"/>
            </a:br>
            <a:r>
              <a:rPr lang="en-IN" dirty="0"/>
              <a:t>Delivery agent experience and rating information</a:t>
            </a:r>
          </a:p>
          <a:p>
            <a:pPr>
              <a:buNone/>
            </a:pPr>
            <a:r>
              <a:rPr lang="en-IN" b="1" dirty="0"/>
              <a:t>5. fedex_shipments.xlsx</a:t>
            </a:r>
            <a:br>
              <a:rPr lang="en-IN" dirty="0"/>
            </a:br>
            <a:r>
              <a:rPr lang="en-IN" dirty="0"/>
              <a:t>Shipment tracking, delivery status and delay information</a:t>
            </a:r>
          </a:p>
          <a:p>
            <a:pPr>
              <a:buNone/>
            </a:pPr>
            <a:r>
              <a:rPr lang="en-IN" b="1" dirty="0"/>
              <a:t>Key Relationships</a:t>
            </a:r>
          </a:p>
          <a:p>
            <a:pPr>
              <a:buNone/>
            </a:pPr>
            <a:r>
              <a:rPr lang="en-IN" b="1" dirty="0" err="1"/>
              <a:t>Order_ID</a:t>
            </a:r>
            <a:r>
              <a:rPr lang="en-IN" dirty="0"/>
              <a:t> → Orders &amp; Shipments</a:t>
            </a:r>
          </a:p>
          <a:p>
            <a:pPr>
              <a:buNone/>
            </a:pPr>
            <a:r>
              <a:rPr lang="en-IN" b="1" dirty="0" err="1"/>
              <a:t>Route_ID</a:t>
            </a:r>
            <a:r>
              <a:rPr lang="en-IN" dirty="0"/>
              <a:t> → Routes &amp; Shipments</a:t>
            </a:r>
          </a:p>
          <a:p>
            <a:pPr>
              <a:buNone/>
            </a:pPr>
            <a:r>
              <a:rPr lang="en-IN" b="1" dirty="0" err="1"/>
              <a:t>Warehouse_ID</a:t>
            </a:r>
            <a:r>
              <a:rPr lang="en-IN" dirty="0"/>
              <a:t> → Warehouses &amp; Shipments</a:t>
            </a:r>
          </a:p>
          <a:p>
            <a:pPr>
              <a:buNone/>
            </a:pPr>
            <a:r>
              <a:rPr lang="en-IN" b="1" dirty="0" err="1"/>
              <a:t>Agent_ID</a:t>
            </a:r>
            <a:r>
              <a:rPr lang="en-IN" dirty="0"/>
              <a:t> → Delivery Agents &amp; Shipments</a:t>
            </a:r>
          </a:p>
        </p:txBody>
      </p:sp>
    </p:spTree>
    <p:extLst>
      <p:ext uri="{BB962C8B-B14F-4D97-AF65-F5344CB8AC3E}">
        <p14:creationId xmlns:p14="http://schemas.microsoft.com/office/powerpoint/2010/main" val="1031089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697190-23D9-7C9C-2E17-1002DB8561EC}"/>
              </a:ext>
            </a:extLst>
          </p:cNvPr>
          <p:cNvSpPr txBox="1"/>
          <p:nvPr/>
        </p:nvSpPr>
        <p:spPr>
          <a:xfrm>
            <a:off x="344130" y="753802"/>
            <a:ext cx="1134642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dirty="0"/>
              <a:t>Task 1 – Data Cleaning &amp; Preparation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Data Quality Checks Performed</a:t>
            </a:r>
          </a:p>
          <a:p>
            <a:pPr>
              <a:buNone/>
            </a:pPr>
            <a:r>
              <a:rPr lang="en-IN" dirty="0"/>
              <a:t>• Checked duplicate </a:t>
            </a:r>
            <a:r>
              <a:rPr lang="en-IN" b="1" dirty="0" err="1"/>
              <a:t>Order_ID</a:t>
            </a:r>
            <a:r>
              <a:rPr lang="en-IN" dirty="0"/>
              <a:t> records</a:t>
            </a:r>
            <a:br>
              <a:rPr lang="en-IN" dirty="0"/>
            </a:br>
            <a:r>
              <a:rPr lang="en-IN" dirty="0"/>
              <a:t>• Checked duplicate </a:t>
            </a:r>
            <a:r>
              <a:rPr lang="en-IN" b="1" dirty="0" err="1"/>
              <a:t>Shipment_ID</a:t>
            </a:r>
            <a:r>
              <a:rPr lang="en-IN" dirty="0"/>
              <a:t> records</a:t>
            </a:r>
            <a:br>
              <a:rPr lang="en-IN" dirty="0"/>
            </a:br>
            <a:r>
              <a:rPr lang="en-IN" dirty="0"/>
              <a:t>• Checked missing </a:t>
            </a:r>
            <a:r>
              <a:rPr lang="en-IN" b="1" dirty="0" err="1"/>
              <a:t>Delay_Hours</a:t>
            </a:r>
            <a:r>
              <a:rPr lang="en-IN" dirty="0"/>
              <a:t> values</a:t>
            </a:r>
            <a:br>
              <a:rPr lang="en-IN" dirty="0"/>
            </a:br>
            <a:r>
              <a:rPr lang="en-IN" dirty="0"/>
              <a:t>• Validated Pickup and Delivery dates</a:t>
            </a:r>
            <a:br>
              <a:rPr lang="en-IN" dirty="0"/>
            </a:br>
            <a:r>
              <a:rPr lang="en-IN" dirty="0"/>
              <a:t>• Checked invalid </a:t>
            </a:r>
            <a:r>
              <a:rPr lang="en-IN" dirty="0" err="1"/>
              <a:t>Route_ID</a:t>
            </a:r>
            <a:r>
              <a:rPr lang="en-IN" dirty="0"/>
              <a:t> and </a:t>
            </a:r>
            <a:r>
              <a:rPr lang="en-IN" dirty="0" err="1"/>
              <a:t>Warehouse_ID</a:t>
            </a:r>
            <a:r>
              <a:rPr lang="en-IN" dirty="0"/>
              <a:t> references</a:t>
            </a:r>
            <a:br>
              <a:rPr lang="en-IN" dirty="0"/>
            </a:br>
            <a:r>
              <a:rPr lang="en-IN" dirty="0"/>
              <a:t>• Checked orders without corresponding shipment records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Key Results</a:t>
            </a:r>
          </a:p>
          <a:p>
            <a:pPr>
              <a:buNone/>
            </a:pPr>
            <a:r>
              <a:rPr lang="en-IN" dirty="0"/>
              <a:t>✓ No duplicate </a:t>
            </a:r>
            <a:r>
              <a:rPr lang="en-IN" dirty="0" err="1"/>
              <a:t>Order_ID</a:t>
            </a:r>
            <a:r>
              <a:rPr lang="en-IN" dirty="0"/>
              <a:t> records found</a:t>
            </a:r>
            <a:br>
              <a:rPr lang="en-IN" dirty="0"/>
            </a:br>
            <a:r>
              <a:rPr lang="en-IN" dirty="0"/>
              <a:t>✓ No duplicate </a:t>
            </a:r>
            <a:r>
              <a:rPr lang="en-IN" dirty="0" err="1"/>
              <a:t>Shipment_ID</a:t>
            </a:r>
            <a:r>
              <a:rPr lang="en-IN" dirty="0"/>
              <a:t> records found</a:t>
            </a:r>
            <a:br>
              <a:rPr lang="en-IN" dirty="0"/>
            </a:br>
            <a:r>
              <a:rPr lang="en-IN" dirty="0"/>
              <a:t>✓ No NULL </a:t>
            </a:r>
            <a:r>
              <a:rPr lang="en-IN" dirty="0" err="1"/>
              <a:t>Delay_Hours</a:t>
            </a:r>
            <a:r>
              <a:rPr lang="en-IN" dirty="0"/>
              <a:t> values found</a:t>
            </a:r>
            <a:br>
              <a:rPr lang="en-IN" dirty="0"/>
            </a:br>
            <a:r>
              <a:rPr lang="en-IN" dirty="0"/>
              <a:t>✓ No invalid Pickup/Delivery date records found</a:t>
            </a:r>
            <a:br>
              <a:rPr lang="en-IN" dirty="0"/>
            </a:br>
            <a:r>
              <a:rPr lang="en-IN" dirty="0"/>
              <a:t>✓ </a:t>
            </a:r>
            <a:r>
              <a:rPr lang="en-IN" dirty="0" err="1"/>
              <a:t>Route_ID</a:t>
            </a:r>
            <a:r>
              <a:rPr lang="en-IN" dirty="0"/>
              <a:t> and </a:t>
            </a:r>
            <a:r>
              <a:rPr lang="en-IN" dirty="0" err="1"/>
              <a:t>Warehouse_ID</a:t>
            </a:r>
            <a:r>
              <a:rPr lang="en-IN" dirty="0"/>
              <a:t> references are valid</a:t>
            </a:r>
            <a:br>
              <a:rPr lang="en-IN" dirty="0"/>
            </a:br>
            <a:r>
              <a:rPr lang="en-IN" dirty="0"/>
              <a:t>⚠ </a:t>
            </a:r>
            <a:r>
              <a:rPr lang="en-IN" b="1" dirty="0"/>
              <a:t>16 orders were found without corresponding shipment records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Conclusion</a:t>
            </a:r>
          </a:p>
          <a:p>
            <a:pPr>
              <a:buNone/>
            </a:pPr>
            <a:r>
              <a:rPr lang="en-IN" dirty="0"/>
              <a:t>The dataset is largely clean and consistent, with 16 unmatched orders requiring further investigation.</a:t>
            </a:r>
          </a:p>
        </p:txBody>
      </p:sp>
    </p:spTree>
    <p:extLst>
      <p:ext uri="{BB962C8B-B14F-4D97-AF65-F5344CB8AC3E}">
        <p14:creationId xmlns:p14="http://schemas.microsoft.com/office/powerpoint/2010/main" val="1206710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A02064-0FE0-F19B-3F63-5CDA68EB8903}"/>
              </a:ext>
            </a:extLst>
          </p:cNvPr>
          <p:cNvSpPr txBox="1"/>
          <p:nvPr/>
        </p:nvSpPr>
        <p:spPr>
          <a:xfrm>
            <a:off x="668592" y="825909"/>
            <a:ext cx="9704439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dirty="0"/>
              <a:t>Task 1 – SQL Queries &amp; Results</a:t>
            </a:r>
          </a:p>
          <a:p>
            <a:pPr>
              <a:buNone/>
            </a:pPr>
            <a:r>
              <a:rPr lang="en-IN" b="1" dirty="0"/>
              <a:t>Query 1.1 – Duplicate </a:t>
            </a:r>
            <a:r>
              <a:rPr lang="en-IN" b="1" dirty="0" err="1"/>
              <a:t>Order_ID</a:t>
            </a:r>
            <a:endParaRPr lang="en-IN" b="1" dirty="0"/>
          </a:p>
          <a:p>
            <a:pPr>
              <a:buNone/>
            </a:pPr>
            <a:r>
              <a:rPr lang="en-IN" b="1" dirty="0"/>
              <a:t>Result:</a:t>
            </a:r>
            <a:r>
              <a:rPr lang="en-IN" dirty="0"/>
              <a:t> No duplicate </a:t>
            </a:r>
            <a:r>
              <a:rPr lang="en-IN" dirty="0" err="1"/>
              <a:t>Order_ID</a:t>
            </a:r>
            <a:r>
              <a:rPr lang="en-IN" dirty="0"/>
              <a:t> records found.</a:t>
            </a:r>
          </a:p>
          <a:p>
            <a:pPr>
              <a:buNone/>
            </a:pPr>
            <a:r>
              <a:rPr lang="en-IN" b="1" dirty="0"/>
              <a:t>Query 1.2 – Duplicate </a:t>
            </a:r>
            <a:r>
              <a:rPr lang="en-IN" b="1" dirty="0" err="1"/>
              <a:t>Shipment_ID</a:t>
            </a:r>
            <a:endParaRPr lang="en-IN" b="1" dirty="0"/>
          </a:p>
          <a:p>
            <a:pPr>
              <a:buNone/>
            </a:pPr>
            <a:r>
              <a:rPr lang="en-IN" b="1" dirty="0"/>
              <a:t>Result:</a:t>
            </a:r>
            <a:r>
              <a:rPr lang="en-IN" dirty="0"/>
              <a:t> No duplicate </a:t>
            </a:r>
            <a:r>
              <a:rPr lang="en-IN" dirty="0" err="1"/>
              <a:t>Shipment_ID</a:t>
            </a:r>
            <a:r>
              <a:rPr lang="en-IN" dirty="0"/>
              <a:t> records found.</a:t>
            </a:r>
          </a:p>
          <a:p>
            <a:pPr>
              <a:buNone/>
            </a:pPr>
            <a:r>
              <a:rPr lang="en-IN" b="1" dirty="0"/>
              <a:t>Query 1.3 – NULL </a:t>
            </a:r>
            <a:r>
              <a:rPr lang="en-IN" b="1" dirty="0" err="1"/>
              <a:t>Delay_Hours</a:t>
            </a:r>
            <a:endParaRPr lang="en-IN" b="1" dirty="0"/>
          </a:p>
          <a:p>
            <a:pPr>
              <a:buNone/>
            </a:pPr>
            <a:r>
              <a:rPr lang="en-IN" b="1" dirty="0"/>
              <a:t>Result:</a:t>
            </a:r>
            <a:r>
              <a:rPr lang="en-IN" dirty="0"/>
              <a:t> No NULL </a:t>
            </a:r>
            <a:r>
              <a:rPr lang="en-IN" dirty="0" err="1"/>
              <a:t>Delay_Hours</a:t>
            </a:r>
            <a:r>
              <a:rPr lang="en-IN" dirty="0"/>
              <a:t> records found.</a:t>
            </a:r>
          </a:p>
          <a:p>
            <a:pPr>
              <a:buNone/>
            </a:pPr>
            <a:r>
              <a:rPr lang="en-IN" b="1" dirty="0"/>
              <a:t>Query 1.4 – Replace NULL </a:t>
            </a:r>
            <a:r>
              <a:rPr lang="en-IN" b="1" dirty="0" err="1"/>
              <a:t>Delay_Hours</a:t>
            </a:r>
            <a:endParaRPr lang="en-IN" b="1" dirty="0"/>
          </a:p>
          <a:p>
            <a:pPr>
              <a:buNone/>
            </a:pPr>
            <a:r>
              <a:rPr lang="en-IN" b="1" dirty="0"/>
              <a:t>Result:</a:t>
            </a:r>
            <a:r>
              <a:rPr lang="en-IN" dirty="0"/>
              <a:t> No NULL values required replacement.</a:t>
            </a:r>
          </a:p>
          <a:p>
            <a:pPr>
              <a:buNone/>
            </a:pPr>
            <a:r>
              <a:rPr lang="en-IN" b="1" dirty="0"/>
              <a:t>Query 1.5 – Verify NULL Values</a:t>
            </a:r>
          </a:p>
          <a:p>
            <a:pPr>
              <a:buNone/>
            </a:pPr>
            <a:r>
              <a:rPr lang="en-IN" b="1" dirty="0"/>
              <a:t>Result:</a:t>
            </a:r>
            <a:r>
              <a:rPr lang="en-IN" dirty="0"/>
              <a:t> 0 NULL </a:t>
            </a:r>
            <a:r>
              <a:rPr lang="en-IN" dirty="0" err="1"/>
              <a:t>Delay_Hours</a:t>
            </a:r>
            <a:r>
              <a:rPr lang="en-IN" dirty="0"/>
              <a:t> records.</a:t>
            </a:r>
          </a:p>
          <a:p>
            <a:pPr>
              <a:buNone/>
            </a:pPr>
            <a:r>
              <a:rPr lang="en-IN" b="1" dirty="0"/>
              <a:t>Query 1.6 – Invalid Delivery Dates</a:t>
            </a:r>
          </a:p>
          <a:p>
            <a:pPr>
              <a:buNone/>
            </a:pPr>
            <a:r>
              <a:rPr lang="en-IN" b="1" dirty="0"/>
              <a:t>Result:</a:t>
            </a:r>
            <a:r>
              <a:rPr lang="en-IN" dirty="0"/>
              <a:t> No </a:t>
            </a:r>
            <a:r>
              <a:rPr lang="en-IN" dirty="0" err="1"/>
              <a:t>Delivery_Date</a:t>
            </a:r>
            <a:r>
              <a:rPr lang="en-IN" dirty="0"/>
              <a:t> before </a:t>
            </a:r>
            <a:r>
              <a:rPr lang="en-IN" dirty="0" err="1"/>
              <a:t>Pickup_Date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b="1" dirty="0"/>
              <a:t>Query 1.7 – Date Validation</a:t>
            </a:r>
          </a:p>
          <a:p>
            <a:pPr>
              <a:buNone/>
            </a:pPr>
            <a:r>
              <a:rPr lang="en-IN" b="1" dirty="0"/>
              <a:t>Result:</a:t>
            </a:r>
            <a:r>
              <a:rPr lang="en-IN" dirty="0"/>
              <a:t> Pickup and Delivery dates successfully validated.</a:t>
            </a:r>
          </a:p>
          <a:p>
            <a:pPr>
              <a:buNone/>
            </a:pPr>
            <a:r>
              <a:rPr lang="en-IN" b="1" dirty="0"/>
              <a:t>Query 1.8 – Orders Without Shipment</a:t>
            </a:r>
          </a:p>
          <a:p>
            <a:pPr>
              <a:buNone/>
            </a:pPr>
            <a:r>
              <a:rPr lang="en-IN" b="1" dirty="0"/>
              <a:t>Result:</a:t>
            </a:r>
            <a:r>
              <a:rPr lang="en-IN" dirty="0"/>
              <a:t> 16 unmatched orders identified.</a:t>
            </a:r>
          </a:p>
          <a:p>
            <a:pPr>
              <a:buNone/>
            </a:pPr>
            <a:r>
              <a:rPr lang="en-IN" b="1" dirty="0"/>
              <a:t>Query 1.9 – Invalid </a:t>
            </a:r>
            <a:r>
              <a:rPr lang="en-IN" b="1" dirty="0" err="1"/>
              <a:t>Route_ID</a:t>
            </a:r>
            <a:endParaRPr lang="en-IN" b="1" dirty="0"/>
          </a:p>
          <a:p>
            <a:pPr>
              <a:buNone/>
            </a:pPr>
            <a:r>
              <a:rPr lang="en-IN" b="1" dirty="0"/>
              <a:t>Result:</a:t>
            </a:r>
            <a:r>
              <a:rPr lang="en-IN" dirty="0"/>
              <a:t> No invalid </a:t>
            </a:r>
            <a:r>
              <a:rPr lang="en-IN" dirty="0" err="1"/>
              <a:t>Route_ID</a:t>
            </a:r>
            <a:r>
              <a:rPr lang="en-IN" dirty="0"/>
              <a:t> found.</a:t>
            </a:r>
          </a:p>
          <a:p>
            <a:pPr>
              <a:buNone/>
            </a:pPr>
            <a:r>
              <a:rPr lang="en-IN" b="1" dirty="0"/>
              <a:t>Query 1.10 – Invalid </a:t>
            </a:r>
            <a:r>
              <a:rPr lang="en-IN" b="1" dirty="0" err="1"/>
              <a:t>Warehouse_ID</a:t>
            </a:r>
            <a:endParaRPr lang="en-IN" b="1" dirty="0"/>
          </a:p>
          <a:p>
            <a:pPr>
              <a:buNone/>
            </a:pPr>
            <a:r>
              <a:rPr lang="en-IN" b="1" dirty="0"/>
              <a:t>Result:</a:t>
            </a:r>
            <a:r>
              <a:rPr lang="en-IN" dirty="0"/>
              <a:t> No invalid </a:t>
            </a:r>
            <a:r>
              <a:rPr lang="en-IN" dirty="0" err="1"/>
              <a:t>Warehouse_ID</a:t>
            </a:r>
            <a:r>
              <a:rPr lang="en-IN" dirty="0"/>
              <a:t> found.</a:t>
            </a:r>
          </a:p>
        </p:txBody>
      </p:sp>
    </p:spTree>
    <p:extLst>
      <p:ext uri="{BB962C8B-B14F-4D97-AF65-F5344CB8AC3E}">
        <p14:creationId xmlns:p14="http://schemas.microsoft.com/office/powerpoint/2010/main" val="1518346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2E0D04-ED50-F121-1ACC-77000FD08726}"/>
              </a:ext>
            </a:extLst>
          </p:cNvPr>
          <p:cNvSpPr txBox="1"/>
          <p:nvPr/>
        </p:nvSpPr>
        <p:spPr>
          <a:xfrm>
            <a:off x="108155" y="753801"/>
            <a:ext cx="903584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dirty="0"/>
              <a:t>Task 2 – Delivery Delay Analysis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Analysis Performed</a:t>
            </a:r>
          </a:p>
          <a:p>
            <a:pPr>
              <a:buNone/>
            </a:pPr>
            <a:r>
              <a:rPr lang="en-IN" dirty="0"/>
              <a:t>• Calculated delivery delay in hours for each shipment</a:t>
            </a:r>
            <a:br>
              <a:rPr lang="en-IN" dirty="0"/>
            </a:br>
            <a:r>
              <a:rPr lang="en-IN" dirty="0"/>
              <a:t>• Identified the </a:t>
            </a:r>
            <a:r>
              <a:rPr lang="en-IN" b="1" dirty="0"/>
              <a:t>Top 10 delayed routes</a:t>
            </a:r>
            <a:r>
              <a:rPr lang="en-IN" dirty="0"/>
              <a:t> based on average delay</a:t>
            </a:r>
            <a:br>
              <a:rPr lang="en-IN" dirty="0"/>
            </a:br>
            <a:r>
              <a:rPr lang="en-IN" dirty="0"/>
              <a:t>• Ranked shipments by delay within each warehouse using SQL window functions</a:t>
            </a:r>
            <a:br>
              <a:rPr lang="en-IN" dirty="0"/>
            </a:br>
            <a:r>
              <a:rPr lang="en-IN" dirty="0"/>
              <a:t>• Compared average delay between </a:t>
            </a:r>
            <a:r>
              <a:rPr lang="en-IN" b="1" dirty="0"/>
              <a:t>Express</a:t>
            </a:r>
            <a:r>
              <a:rPr lang="en-IN" dirty="0"/>
              <a:t> and </a:t>
            </a:r>
            <a:r>
              <a:rPr lang="en-IN" b="1" dirty="0"/>
              <a:t>Standard</a:t>
            </a:r>
            <a:r>
              <a:rPr lang="en-IN" dirty="0"/>
              <a:t> deliveries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Key Metrics</a:t>
            </a:r>
          </a:p>
          <a:p>
            <a:pPr>
              <a:buNone/>
            </a:pPr>
            <a:r>
              <a:rPr lang="en-IN" b="1" dirty="0"/>
              <a:t>Delivery Delay (Hours)</a:t>
            </a:r>
            <a:br>
              <a:rPr lang="en-IN" dirty="0"/>
            </a:br>
            <a:r>
              <a:rPr lang="en-IN" dirty="0"/>
              <a:t>Delivery Date − Pickup Date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Route Delay</a:t>
            </a:r>
            <a:br>
              <a:rPr lang="en-IN" dirty="0"/>
            </a:br>
            <a:r>
              <a:rPr lang="en-IN" dirty="0"/>
              <a:t>Average delay calculated for each </a:t>
            </a:r>
            <a:r>
              <a:rPr lang="en-IN" dirty="0" err="1"/>
              <a:t>Route_ID</a:t>
            </a: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Warehouse Ranking</a:t>
            </a:r>
            <a:br>
              <a:rPr lang="en-IN" dirty="0"/>
            </a:br>
            <a:r>
              <a:rPr lang="en-IN" dirty="0"/>
              <a:t>Shipments ranked by </a:t>
            </a:r>
            <a:r>
              <a:rPr lang="en-IN" dirty="0" err="1"/>
              <a:t>Delay_Hours</a:t>
            </a:r>
            <a:r>
              <a:rPr lang="en-IN" dirty="0"/>
              <a:t> within each </a:t>
            </a:r>
            <a:r>
              <a:rPr lang="en-IN" dirty="0" err="1"/>
              <a:t>Warehouse_ID</a:t>
            </a: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Service-Level Comparison</a:t>
            </a:r>
            <a:br>
              <a:rPr lang="en-IN" dirty="0"/>
            </a:br>
            <a:r>
              <a:rPr lang="en-IN" dirty="0"/>
              <a:t>Express vs Standard average delivery delay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5D7576-A55D-8A56-2C5B-4F7839E53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624" y="3120396"/>
            <a:ext cx="4699340" cy="326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11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F9EE08-2BE9-A285-1F41-87351B29F5C8}"/>
              </a:ext>
            </a:extLst>
          </p:cNvPr>
          <p:cNvSpPr txBox="1"/>
          <p:nvPr/>
        </p:nvSpPr>
        <p:spPr>
          <a:xfrm>
            <a:off x="265471" y="894735"/>
            <a:ext cx="11543071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dirty="0"/>
              <a:t>Task 3 – Route Optimization Insights</a:t>
            </a:r>
          </a:p>
          <a:p>
            <a:pPr>
              <a:buNone/>
            </a:pPr>
            <a:r>
              <a:rPr lang="en-IN" b="1" dirty="0"/>
              <a:t>Analysis Performed</a:t>
            </a:r>
          </a:p>
          <a:p>
            <a:pPr>
              <a:buNone/>
            </a:pPr>
            <a:r>
              <a:rPr lang="en-IN" dirty="0"/>
              <a:t>• Calculated average transit time for each route</a:t>
            </a:r>
            <a:br>
              <a:rPr lang="en-IN" dirty="0"/>
            </a:br>
            <a:r>
              <a:rPr lang="en-IN" dirty="0"/>
              <a:t>• Calculated average delivery delay per route</a:t>
            </a:r>
            <a:br>
              <a:rPr lang="en-IN" dirty="0"/>
            </a:br>
            <a:r>
              <a:rPr lang="en-IN" dirty="0"/>
              <a:t>• Calculated the Distance-to-Time Efficiency Ratio</a:t>
            </a:r>
            <a:br>
              <a:rPr lang="en-IN" dirty="0"/>
            </a:br>
            <a:r>
              <a:rPr lang="en-IN" dirty="0"/>
              <a:t>• Identified the </a:t>
            </a:r>
            <a:r>
              <a:rPr lang="en-IN" b="1" dirty="0"/>
              <a:t>3 routes with the lowest efficiency</a:t>
            </a:r>
            <a:br>
              <a:rPr lang="en-IN" dirty="0"/>
            </a:br>
            <a:r>
              <a:rPr lang="en-IN" dirty="0"/>
              <a:t>• Identified routes where more than </a:t>
            </a:r>
            <a:r>
              <a:rPr lang="en-IN" b="1" dirty="0"/>
              <a:t>20% of shipments were delayed</a:t>
            </a:r>
            <a:br>
              <a:rPr lang="en-IN" dirty="0"/>
            </a:br>
            <a:r>
              <a:rPr lang="en-IN" dirty="0"/>
              <a:t>• Classified routes for optimization based on average delay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Key Metrics</a:t>
            </a:r>
          </a:p>
          <a:p>
            <a:pPr>
              <a:buNone/>
            </a:pPr>
            <a:r>
              <a:rPr lang="en-IN" b="1" dirty="0"/>
              <a:t>Average Transit Time</a:t>
            </a:r>
            <a:br>
              <a:rPr lang="en-IN" dirty="0"/>
            </a:br>
            <a:r>
              <a:rPr lang="en-IN" dirty="0"/>
              <a:t>Measures the actual time taken by shipments on each route.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Average Delay</a:t>
            </a:r>
            <a:br>
              <a:rPr lang="en-IN" dirty="0"/>
            </a:br>
            <a:r>
              <a:rPr lang="en-IN" dirty="0"/>
              <a:t>Measures the average additional delay experienced on each route.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Efficiency Ratio</a:t>
            </a:r>
            <a:br>
              <a:rPr lang="en-IN" dirty="0"/>
            </a:br>
            <a:r>
              <a:rPr lang="en-IN" dirty="0" err="1"/>
              <a:t>Distance_KM</a:t>
            </a:r>
            <a:r>
              <a:rPr lang="en-IN" dirty="0"/>
              <a:t> ÷ </a:t>
            </a:r>
            <a:r>
              <a:rPr lang="en-IN" dirty="0" err="1"/>
              <a:t>Avg_Transit_Time_Hours</a:t>
            </a: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Business Objective</a:t>
            </a:r>
          </a:p>
          <a:p>
            <a:pPr>
              <a:buNone/>
            </a:pPr>
            <a:r>
              <a:rPr lang="en-IN" dirty="0"/>
              <a:t>Identify inefficient and high-delay routes so that FedEx can improve route planning, scheduling and hub utilization.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FADB10-2BC2-9030-9BA9-F4446D902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9898" y="1489374"/>
            <a:ext cx="4862136" cy="22567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9046FE-5B13-9799-C3A5-25BE76D1D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979" y="4023639"/>
            <a:ext cx="4505619" cy="151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067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D3E077-C52C-02FF-21F2-E111F002F039}"/>
              </a:ext>
            </a:extLst>
          </p:cNvPr>
          <p:cNvSpPr txBox="1"/>
          <p:nvPr/>
        </p:nvSpPr>
        <p:spPr>
          <a:xfrm>
            <a:off x="130627" y="770221"/>
            <a:ext cx="1162594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dirty="0"/>
              <a:t>Task 3 – Route Optimization Results</a:t>
            </a:r>
          </a:p>
          <a:p>
            <a:pPr algn="ctr"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Route Performance Analysis</a:t>
            </a:r>
          </a:p>
          <a:p>
            <a:pPr>
              <a:buNone/>
            </a:pPr>
            <a:r>
              <a:rPr lang="en-IN" b="1" dirty="0"/>
              <a:t>Query 3.1 – Average Transit Time</a:t>
            </a:r>
            <a:br>
              <a:rPr lang="en-IN" dirty="0"/>
            </a:br>
            <a:r>
              <a:rPr lang="en-IN" dirty="0"/>
              <a:t>Shows the average actual transit time for each route.</a:t>
            </a:r>
          </a:p>
          <a:p>
            <a:pPr>
              <a:buNone/>
            </a:pPr>
            <a:r>
              <a:rPr lang="en-IN" b="1" dirty="0"/>
              <a:t>Query 3.2 – Average Delay</a:t>
            </a:r>
            <a:br>
              <a:rPr lang="en-IN" dirty="0"/>
            </a:br>
            <a:r>
              <a:rPr lang="en-IN" dirty="0"/>
              <a:t>Identifies routes with higher average delivery delays.</a:t>
            </a:r>
          </a:p>
          <a:p>
            <a:pPr>
              <a:buNone/>
            </a:pPr>
            <a:r>
              <a:rPr lang="en-IN" b="1" dirty="0"/>
              <a:t>Query 3.3 – Efficiency Ratio</a:t>
            </a:r>
            <a:br>
              <a:rPr lang="en-IN" dirty="0"/>
            </a:br>
            <a:r>
              <a:rPr lang="en-IN" dirty="0"/>
              <a:t>Compares route distance with average transit time.</a:t>
            </a:r>
          </a:p>
          <a:p>
            <a:pPr>
              <a:buNone/>
            </a:pPr>
            <a:r>
              <a:rPr lang="en-IN" b="1" dirty="0"/>
              <a:t>Query 3.4 – Worst 3 Routes</a:t>
            </a:r>
            <a:br>
              <a:rPr lang="en-IN" dirty="0"/>
            </a:br>
            <a:r>
              <a:rPr lang="en-IN" dirty="0"/>
              <a:t>Identifies the three routes with the lowest efficiency ratio.</a:t>
            </a:r>
          </a:p>
          <a:p>
            <a:pPr>
              <a:buNone/>
            </a:pPr>
            <a:r>
              <a:rPr lang="en-IN" b="1" dirty="0"/>
              <a:t>Query 3.5 – Delayed Routes</a:t>
            </a:r>
            <a:br>
              <a:rPr lang="en-IN" dirty="0"/>
            </a:br>
            <a:r>
              <a:rPr lang="en-IN" dirty="0"/>
              <a:t>Identifies routes where more than 20% of shipments exceeded the expected transit time.</a:t>
            </a:r>
          </a:p>
          <a:p>
            <a:pPr>
              <a:buNone/>
            </a:pPr>
            <a:r>
              <a:rPr lang="en-IN" b="1" dirty="0"/>
              <a:t>Query 3.6 – Optimization Classification</a:t>
            </a:r>
            <a:br>
              <a:rPr lang="en-IN" dirty="0"/>
            </a:br>
            <a:r>
              <a:rPr lang="en-IN" dirty="0"/>
              <a:t>Classifies routes as:</a:t>
            </a:r>
            <a:br>
              <a:rPr lang="en-IN" dirty="0"/>
            </a:br>
            <a:r>
              <a:rPr lang="en-IN" dirty="0"/>
              <a:t>• High Priority Optimization</a:t>
            </a:r>
            <a:br>
              <a:rPr lang="en-IN" dirty="0"/>
            </a:br>
            <a:r>
              <a:rPr lang="en-IN" dirty="0"/>
              <a:t>• Needs Monitoring</a:t>
            </a:r>
            <a:br>
              <a:rPr lang="en-IN" dirty="0"/>
            </a:br>
            <a:r>
              <a:rPr lang="en-IN" dirty="0"/>
              <a:t>• Performing Well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Recommendation</a:t>
            </a:r>
          </a:p>
          <a:p>
            <a:pPr>
              <a:buNone/>
            </a:pPr>
            <a:r>
              <a:rPr lang="en-IN" dirty="0"/>
              <a:t>High-delay and low-efficiency routes should be reviewed for alternative routing, better scheduling and improved hub coordination.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C58C24-8653-7188-C2CD-F1858AD71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86" y="1257841"/>
            <a:ext cx="5172797" cy="1991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064DEC-D3F1-F8BA-FC3C-4DBB096B4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9388" y="3429000"/>
            <a:ext cx="2734810" cy="256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249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2812F7-9840-7EBD-7147-8045B5B01E00}"/>
              </a:ext>
            </a:extLst>
          </p:cNvPr>
          <p:cNvSpPr txBox="1"/>
          <p:nvPr/>
        </p:nvSpPr>
        <p:spPr>
          <a:xfrm>
            <a:off x="250370" y="1099457"/>
            <a:ext cx="989511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dirty="0"/>
              <a:t>Task 4 – Warehouse Performance</a:t>
            </a:r>
          </a:p>
          <a:p>
            <a:pPr algn="ctr"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Analysis Performed</a:t>
            </a:r>
          </a:p>
          <a:p>
            <a:pPr>
              <a:buNone/>
            </a:pPr>
            <a:r>
              <a:rPr lang="en-IN" dirty="0"/>
              <a:t>• Identified the </a:t>
            </a:r>
            <a:r>
              <a:rPr lang="en-IN" b="1" dirty="0"/>
              <a:t>Top 3 warehouses</a:t>
            </a:r>
            <a:r>
              <a:rPr lang="en-IN" dirty="0"/>
              <a:t> with the highest average shipment delay</a:t>
            </a:r>
            <a:br>
              <a:rPr lang="en-IN" dirty="0"/>
            </a:br>
            <a:r>
              <a:rPr lang="en-IN" dirty="0"/>
              <a:t>• Compared total shipments with delayed shipments for each warehouse</a:t>
            </a:r>
            <a:br>
              <a:rPr lang="en-IN" dirty="0"/>
            </a:br>
            <a:r>
              <a:rPr lang="en-IN" dirty="0"/>
              <a:t>• Used a </a:t>
            </a:r>
            <a:r>
              <a:rPr lang="en-IN" b="1" dirty="0"/>
              <a:t>CTE</a:t>
            </a:r>
            <a:r>
              <a:rPr lang="en-IN" dirty="0"/>
              <a:t> to identify warehouses with average delay above the global average</a:t>
            </a:r>
            <a:br>
              <a:rPr lang="en-IN" dirty="0"/>
            </a:br>
            <a:r>
              <a:rPr lang="en-IN" dirty="0"/>
              <a:t>• Ranked warehouses based on </a:t>
            </a:r>
            <a:r>
              <a:rPr lang="en-IN" b="1" dirty="0"/>
              <a:t>On-Time Delivery Percentage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Key Metrics</a:t>
            </a:r>
          </a:p>
          <a:p>
            <a:pPr>
              <a:buNone/>
            </a:pPr>
            <a:r>
              <a:rPr lang="en-IN" b="1" dirty="0"/>
              <a:t>Average Delay</a:t>
            </a:r>
            <a:br>
              <a:rPr lang="en-IN" dirty="0"/>
            </a:br>
            <a:r>
              <a:rPr lang="en-IN" dirty="0"/>
              <a:t>Measures the average delay of shipments handled by each warehouse.</a:t>
            </a:r>
          </a:p>
          <a:p>
            <a:pPr>
              <a:buNone/>
            </a:pPr>
            <a:r>
              <a:rPr lang="en-IN" b="1" dirty="0"/>
              <a:t>Delayed Shipments</a:t>
            </a:r>
            <a:br>
              <a:rPr lang="en-IN" dirty="0"/>
            </a:br>
            <a:r>
              <a:rPr lang="en-IN" dirty="0"/>
              <a:t>Counts shipments where delay hours are greater than zero.</a:t>
            </a:r>
          </a:p>
          <a:p>
            <a:pPr>
              <a:buNone/>
            </a:pPr>
            <a:r>
              <a:rPr lang="en-IN" b="1" dirty="0"/>
              <a:t>On-Time Delivery %</a:t>
            </a:r>
            <a:br>
              <a:rPr lang="en-IN" dirty="0"/>
            </a:br>
            <a:r>
              <a:rPr lang="en-IN" dirty="0"/>
              <a:t>Measures the percentage of shipments delivered without delay.</a:t>
            </a:r>
          </a:p>
          <a:p>
            <a:pPr>
              <a:buNone/>
            </a:pPr>
            <a:r>
              <a:rPr lang="en-IN" b="1" dirty="0"/>
              <a:t>Business Objective</a:t>
            </a:r>
          </a:p>
          <a:p>
            <a:pPr>
              <a:buNone/>
            </a:pPr>
            <a:r>
              <a:rPr lang="en-IN" dirty="0"/>
              <a:t>Identify underperforming warehouses and prioritize them for operational improvements, capacity planning and better shipment handling.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9A0395-6D69-3819-1ABC-9C5B0619E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0245" y="969107"/>
            <a:ext cx="3610479" cy="1762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AFC06C-F1E2-54EE-26A6-AC02C58D1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988" y="2884157"/>
            <a:ext cx="3011683" cy="236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796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A56970-C1CE-65E5-D4B3-57995E094787}"/>
              </a:ext>
            </a:extLst>
          </p:cNvPr>
          <p:cNvSpPr txBox="1"/>
          <p:nvPr/>
        </p:nvSpPr>
        <p:spPr>
          <a:xfrm>
            <a:off x="522515" y="1107119"/>
            <a:ext cx="893717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dirty="0"/>
              <a:t>Task 5 – Delivery Agent Performance</a:t>
            </a:r>
          </a:p>
          <a:p>
            <a:pPr algn="ctr"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Analysis Performed</a:t>
            </a:r>
          </a:p>
          <a:p>
            <a:pPr>
              <a:buNone/>
            </a:pPr>
            <a:r>
              <a:rPr lang="en-IN" dirty="0"/>
              <a:t>• Ranked delivery agents based on </a:t>
            </a:r>
            <a:r>
              <a:rPr lang="en-IN" b="1" dirty="0"/>
              <a:t>On-Time Delivery Percentage</a:t>
            </a:r>
            <a:br>
              <a:rPr lang="en-IN" dirty="0"/>
            </a:br>
            <a:r>
              <a:rPr lang="en-IN" dirty="0"/>
              <a:t>• Identified agents with On-Time Delivery below </a:t>
            </a:r>
            <a:r>
              <a:rPr lang="en-IN" b="1" dirty="0"/>
              <a:t>85%</a:t>
            </a:r>
            <a:br>
              <a:rPr lang="en-IN" dirty="0"/>
            </a:br>
            <a:r>
              <a:rPr lang="en-IN" dirty="0"/>
              <a:t>• Compared the </a:t>
            </a:r>
            <a:r>
              <a:rPr lang="en-IN" b="1" dirty="0"/>
              <a:t>Top 5 and Bottom 5 agents</a:t>
            </a:r>
            <a:r>
              <a:rPr lang="en-IN" dirty="0"/>
              <a:t> using rating and experience</a:t>
            </a:r>
            <a:br>
              <a:rPr lang="en-IN" dirty="0"/>
            </a:br>
            <a:r>
              <a:rPr lang="en-IN" dirty="0"/>
              <a:t>• Evaluated agents for training and workload-balancing opportunities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Key Metrics</a:t>
            </a:r>
          </a:p>
          <a:p>
            <a:pPr>
              <a:buNone/>
            </a:pPr>
            <a:r>
              <a:rPr lang="en-IN" b="1" dirty="0"/>
              <a:t>On-Time Delivery %</a:t>
            </a:r>
            <a:br>
              <a:rPr lang="en-IN" dirty="0"/>
            </a:br>
            <a:r>
              <a:rPr lang="en-IN" dirty="0"/>
              <a:t>Measures the percentage of shipments delivered on time by each agent.</a:t>
            </a:r>
          </a:p>
          <a:p>
            <a:pPr>
              <a:buNone/>
            </a:pPr>
            <a:r>
              <a:rPr lang="en-IN" b="1" dirty="0"/>
              <a:t>Average Rating</a:t>
            </a:r>
            <a:br>
              <a:rPr lang="en-IN" dirty="0"/>
            </a:br>
            <a:r>
              <a:rPr lang="en-IN" dirty="0"/>
              <a:t>Represents customer feedback and service quality.</a:t>
            </a:r>
          </a:p>
          <a:p>
            <a:pPr>
              <a:buNone/>
            </a:pPr>
            <a:r>
              <a:rPr lang="en-IN" b="1" dirty="0"/>
              <a:t>Experience (Years)</a:t>
            </a:r>
            <a:br>
              <a:rPr lang="en-IN" dirty="0"/>
            </a:br>
            <a:r>
              <a:rPr lang="en-IN" dirty="0"/>
              <a:t>Shows the delivery agent's professional experience.</a:t>
            </a:r>
          </a:p>
          <a:p>
            <a:pPr>
              <a:buNone/>
            </a:pPr>
            <a:r>
              <a:rPr lang="en-IN" b="1" dirty="0"/>
              <a:t>Business Objective</a:t>
            </a:r>
          </a:p>
          <a:p>
            <a:pPr>
              <a:buNone/>
            </a:pPr>
            <a:r>
              <a:rPr lang="en-IN" dirty="0"/>
              <a:t>Identify high-performing agents and support low-performing agents through targeted training and workload balancing.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B0434E-B076-4ADA-897A-8C30BD24A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483" y="830736"/>
            <a:ext cx="2829320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802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BE2F9A-D55E-2557-9D33-0EB37C0CA74B}"/>
              </a:ext>
            </a:extLst>
          </p:cNvPr>
          <p:cNvSpPr txBox="1"/>
          <p:nvPr/>
        </p:nvSpPr>
        <p:spPr>
          <a:xfrm>
            <a:off x="348343" y="870857"/>
            <a:ext cx="92964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dirty="0"/>
              <a:t>Task 6 – Shipment Tracking Analytics</a:t>
            </a:r>
          </a:p>
          <a:p>
            <a:pPr algn="ctr"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Analysis Performed</a:t>
            </a:r>
          </a:p>
          <a:p>
            <a:pPr>
              <a:buNone/>
            </a:pPr>
            <a:r>
              <a:rPr lang="en-IN" dirty="0"/>
              <a:t>• Displayed shipment status along with the latest delivery date</a:t>
            </a:r>
            <a:br>
              <a:rPr lang="en-IN" dirty="0"/>
            </a:br>
            <a:r>
              <a:rPr lang="en-IN" dirty="0"/>
              <a:t>• Identified routes with </a:t>
            </a:r>
            <a:r>
              <a:rPr lang="en-IN" b="1" dirty="0"/>
              <a:t>In Transit</a:t>
            </a:r>
            <a:r>
              <a:rPr lang="en-IN" dirty="0"/>
              <a:t> and </a:t>
            </a:r>
            <a:r>
              <a:rPr lang="en-IN" b="1" dirty="0"/>
              <a:t>Returned</a:t>
            </a:r>
            <a:r>
              <a:rPr lang="en-IN" dirty="0"/>
              <a:t> shipments</a:t>
            </a:r>
            <a:br>
              <a:rPr lang="en-IN" dirty="0"/>
            </a:br>
            <a:r>
              <a:rPr lang="en-IN" dirty="0"/>
              <a:t>• </a:t>
            </a:r>
            <a:r>
              <a:rPr lang="en-IN" dirty="0" err="1"/>
              <a:t>Analyzed</a:t>
            </a:r>
            <a:r>
              <a:rPr lang="en-IN" dirty="0"/>
              <a:t> the frequency of available shipment statuses</a:t>
            </a:r>
            <a:br>
              <a:rPr lang="en-IN" dirty="0"/>
            </a:br>
            <a:r>
              <a:rPr lang="en-IN" dirty="0"/>
              <a:t>• Identified shipments with exceptionally high delays of more than </a:t>
            </a:r>
            <a:r>
              <a:rPr lang="en-IN" b="1" dirty="0"/>
              <a:t>120 hours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Key Metrics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Delivery Status</a:t>
            </a:r>
            <a:br>
              <a:rPr lang="en-IN" dirty="0"/>
            </a:br>
            <a:r>
              <a:rPr lang="en-IN" dirty="0"/>
              <a:t>Delivered • In Transit • Returned</a:t>
            </a:r>
          </a:p>
          <a:p>
            <a:pPr>
              <a:buNone/>
            </a:pPr>
            <a:r>
              <a:rPr lang="en-IN" b="1" dirty="0"/>
              <a:t>Extreme Delay</a:t>
            </a:r>
            <a:br>
              <a:rPr lang="en-IN" dirty="0"/>
            </a:br>
            <a:r>
              <a:rPr lang="en-IN" dirty="0"/>
              <a:t>Shipments with </a:t>
            </a:r>
            <a:r>
              <a:rPr lang="en-IN" dirty="0" err="1"/>
              <a:t>Delay_Hours</a:t>
            </a:r>
            <a:r>
              <a:rPr lang="en-IN" dirty="0"/>
              <a:t> &gt; 120</a:t>
            </a:r>
          </a:p>
          <a:p>
            <a:pPr>
              <a:buNone/>
            </a:pPr>
            <a:r>
              <a:rPr lang="en-IN" b="1" dirty="0"/>
              <a:t>Business Objective</a:t>
            </a:r>
          </a:p>
          <a:p>
            <a:pPr>
              <a:buNone/>
            </a:pPr>
            <a:r>
              <a:rPr lang="en-IN" dirty="0"/>
              <a:t>Identify shipment bottlenecks, routes with unresolved deliveries and exceptionally delayed shipments that require operational investigation.</a:t>
            </a:r>
          </a:p>
          <a:p>
            <a:pPr>
              <a:buNone/>
            </a:pP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6C17BB-25C0-5B76-B096-83ABEAC1A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2793" y="870857"/>
            <a:ext cx="2693436" cy="20276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A918B8-4893-0485-3261-64B2C1416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265" y="1308335"/>
            <a:ext cx="2610214" cy="11526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ECAAB7-E507-1F27-964D-83CDB17497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9543" y="2994550"/>
            <a:ext cx="2835200" cy="192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932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1E4DD5-80CB-2C84-0CD3-739EC4DB5B18}"/>
              </a:ext>
            </a:extLst>
          </p:cNvPr>
          <p:cNvSpPr txBox="1"/>
          <p:nvPr/>
        </p:nvSpPr>
        <p:spPr>
          <a:xfrm>
            <a:off x="185058" y="870857"/>
            <a:ext cx="10722429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dirty="0"/>
              <a:t>Task 7 – Advanced KPI Reporting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Key Performance Indicators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• </a:t>
            </a:r>
            <a:r>
              <a:rPr lang="en-IN" b="1" dirty="0"/>
              <a:t>Average Delivery Delay per Source Country</a:t>
            </a:r>
            <a:br>
              <a:rPr lang="en-IN" dirty="0"/>
            </a:br>
            <a:r>
              <a:rPr lang="en-IN" dirty="0"/>
              <a:t>Measures the average shipment delay for each source country.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• </a:t>
            </a:r>
            <a:r>
              <a:rPr lang="en-IN" b="1" dirty="0"/>
              <a:t>On-Time Delivery %</a:t>
            </a:r>
            <a:br>
              <a:rPr lang="en-IN" dirty="0"/>
            </a:br>
            <a:r>
              <a:rPr lang="en-IN" dirty="0"/>
              <a:t>Measures the percentage of deliveries completed without delay.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• </a:t>
            </a:r>
            <a:r>
              <a:rPr lang="en-IN" b="1" dirty="0"/>
              <a:t>Average Delay per Route</a:t>
            </a:r>
            <a:br>
              <a:rPr lang="en-IN" dirty="0"/>
            </a:br>
            <a:r>
              <a:rPr lang="en-IN" dirty="0"/>
              <a:t>Identifies routes with higher average delivery delays.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• </a:t>
            </a:r>
            <a:r>
              <a:rPr lang="en-IN" b="1" dirty="0"/>
              <a:t>Warehouse Utilization %</a:t>
            </a:r>
            <a:br>
              <a:rPr lang="en-IN" dirty="0"/>
            </a:br>
            <a:r>
              <a:rPr lang="en-IN" dirty="0"/>
              <a:t>Measures shipment volume handled compared with the warehouse's daily capacity.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SQL Techniques Used</a:t>
            </a:r>
          </a:p>
          <a:p>
            <a:pPr>
              <a:buNone/>
            </a:pPr>
            <a:r>
              <a:rPr lang="en-IN" b="1" dirty="0"/>
              <a:t>AVG()</a:t>
            </a:r>
            <a:r>
              <a:rPr lang="en-IN" dirty="0"/>
              <a:t> • </a:t>
            </a:r>
            <a:r>
              <a:rPr lang="en-IN" b="1" dirty="0"/>
              <a:t>SUM()</a:t>
            </a:r>
            <a:r>
              <a:rPr lang="en-IN" dirty="0"/>
              <a:t> • </a:t>
            </a:r>
            <a:r>
              <a:rPr lang="en-IN" b="1" dirty="0"/>
              <a:t>COUNT()</a:t>
            </a:r>
            <a:r>
              <a:rPr lang="en-IN" dirty="0"/>
              <a:t> • </a:t>
            </a:r>
            <a:r>
              <a:rPr lang="en-IN" b="1" dirty="0"/>
              <a:t>CASE</a:t>
            </a:r>
            <a:r>
              <a:rPr lang="en-IN" dirty="0"/>
              <a:t> • </a:t>
            </a:r>
            <a:r>
              <a:rPr lang="en-IN" b="1" dirty="0"/>
              <a:t>GROUP BY</a:t>
            </a:r>
            <a:r>
              <a:rPr lang="en-IN" dirty="0"/>
              <a:t> • </a:t>
            </a:r>
            <a:r>
              <a:rPr lang="en-IN" b="1" dirty="0"/>
              <a:t>JOIN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Business Objective</a:t>
            </a:r>
          </a:p>
          <a:p>
            <a:pPr>
              <a:buNone/>
            </a:pPr>
            <a:r>
              <a:rPr lang="en-IN" dirty="0"/>
              <a:t>Use these KPIs to monitor delivery reliability, route performance and warehouse capacity utilization.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17C584-F1B2-3B40-B53D-04C36BA6D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484" y="1425846"/>
            <a:ext cx="2326363" cy="19002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EA7509-69EA-2131-8F8E-B3EE1E7731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261" y="789269"/>
            <a:ext cx="2752681" cy="10566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17920F-AC8D-166C-6A28-7D419E107D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7363" y="1921024"/>
            <a:ext cx="2819579" cy="15946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0A5758-C259-D3D0-0865-1A121F24D2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3886" y="3767238"/>
            <a:ext cx="3418114" cy="170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351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0CA9BA-2FFE-EE35-68C6-7A4389A00257}"/>
              </a:ext>
            </a:extLst>
          </p:cNvPr>
          <p:cNvSpPr txBox="1"/>
          <p:nvPr/>
        </p:nvSpPr>
        <p:spPr>
          <a:xfrm>
            <a:off x="163285" y="1034142"/>
            <a:ext cx="1115785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Insights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Data Quality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No duplicate </a:t>
            </a:r>
            <a:r>
              <a:rPr lang="en-IN" dirty="0" err="1"/>
              <a:t>Order_ID</a:t>
            </a:r>
            <a:r>
              <a:rPr lang="en-IN" dirty="0"/>
              <a:t> records were identified.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No duplicate </a:t>
            </a:r>
            <a:r>
              <a:rPr lang="en-IN" dirty="0" err="1"/>
              <a:t>Shipment_ID</a:t>
            </a:r>
            <a:r>
              <a:rPr lang="en-IN" dirty="0"/>
              <a:t> records were identified.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No NULL </a:t>
            </a:r>
            <a:r>
              <a:rPr lang="en-IN" dirty="0" err="1"/>
              <a:t>Delay_Hours</a:t>
            </a:r>
            <a:r>
              <a:rPr lang="en-IN" dirty="0"/>
              <a:t> values were found.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No invalid </a:t>
            </a:r>
            <a:r>
              <a:rPr lang="en-IN" dirty="0" err="1"/>
              <a:t>Pickup_Date</a:t>
            </a:r>
            <a:r>
              <a:rPr lang="en-IN" dirty="0"/>
              <a:t> or </a:t>
            </a:r>
            <a:r>
              <a:rPr lang="en-IN" dirty="0" err="1"/>
              <a:t>Delivery_Date</a:t>
            </a:r>
            <a:r>
              <a:rPr lang="en-IN" dirty="0"/>
              <a:t> records were identified.</a:t>
            </a:r>
          </a:p>
          <a:p>
            <a:pPr lvl="0"/>
            <a:endParaRPr lang="en-IN" dirty="0"/>
          </a:p>
          <a:p>
            <a:pPr>
              <a:buNone/>
            </a:pPr>
            <a:r>
              <a:rPr lang="en-IN" b="1" dirty="0"/>
              <a:t>Referential Integrity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Route_ID</a:t>
            </a:r>
            <a:r>
              <a:rPr lang="en-IN" dirty="0"/>
              <a:t> references were validated successfully.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Warehouse_ID</a:t>
            </a:r>
            <a:r>
              <a:rPr lang="en-IN" dirty="0"/>
              <a:t> references were validated successfully.</a:t>
            </a:r>
          </a:p>
          <a:p>
            <a:pPr lvl="0"/>
            <a:endParaRPr lang="en-IN" dirty="0"/>
          </a:p>
          <a:p>
            <a:pPr>
              <a:buNone/>
            </a:pPr>
            <a:r>
              <a:rPr lang="en-IN" b="1" dirty="0"/>
              <a:t>Shipment Mapping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16 orders were identified without a corresponding shipment record.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These unmatched orders should be investigated to understand whether the issue is related to shipment creation, tracking or data recording.</a:t>
            </a:r>
          </a:p>
          <a:p>
            <a:pPr lvl="0"/>
            <a:endParaRPr lang="en-IN" dirty="0"/>
          </a:p>
          <a:p>
            <a:pPr>
              <a:buNone/>
            </a:pPr>
            <a:r>
              <a:rPr lang="en-IN" b="1" dirty="0"/>
              <a:t>Overall Observation</a:t>
            </a:r>
          </a:p>
          <a:p>
            <a:pPr>
              <a:buNone/>
            </a:pPr>
            <a:r>
              <a:rPr lang="en-IN" dirty="0"/>
              <a:t>The dataset is generally clean and consistent, with the main data-quality issue being the 16 unmatched orders.</a:t>
            </a:r>
          </a:p>
        </p:txBody>
      </p:sp>
    </p:spTree>
    <p:extLst>
      <p:ext uri="{BB962C8B-B14F-4D97-AF65-F5344CB8AC3E}">
        <p14:creationId xmlns:p14="http://schemas.microsoft.com/office/powerpoint/2010/main" val="3024796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EDB214-49BD-600E-19FE-D564E6E8B4A5}"/>
              </a:ext>
            </a:extLst>
          </p:cNvPr>
          <p:cNvSpPr txBox="1"/>
          <p:nvPr/>
        </p:nvSpPr>
        <p:spPr>
          <a:xfrm>
            <a:off x="76200" y="671691"/>
            <a:ext cx="1133202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Business Recommendations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1. Optimize High-Delay Routes</a:t>
            </a:r>
          </a:p>
          <a:p>
            <a:pPr>
              <a:buNone/>
            </a:pPr>
            <a:r>
              <a:rPr lang="en-IN" dirty="0"/>
              <a:t>Review routes with high average delays and low distance-to-time efficiency. Evaluate alternate routes, hub combinations and delivery schedules.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2. Improve Warehouse Operations</a:t>
            </a:r>
          </a:p>
          <a:p>
            <a:pPr>
              <a:buNone/>
            </a:pPr>
            <a:r>
              <a:rPr lang="en-IN" dirty="0"/>
              <a:t>Prioritize warehouses with high average delays or low on-time delivery performance. Review processing capacity and shipment handling.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3. Train Low-Performing Agents</a:t>
            </a:r>
          </a:p>
          <a:p>
            <a:pPr>
              <a:buNone/>
            </a:pPr>
            <a:r>
              <a:rPr lang="en-IN" dirty="0"/>
              <a:t>Delivery agents with On-Time Delivery below 85% should receive targeted training and performance support.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4. Balance Agent Workloads</a:t>
            </a:r>
          </a:p>
          <a:p>
            <a:pPr>
              <a:buNone/>
            </a:pPr>
            <a:r>
              <a:rPr lang="en-IN" dirty="0"/>
              <a:t>Redistribute shipments where workload concentration may be affecting delivery performance.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5. Monitor Extreme Delays</a:t>
            </a:r>
          </a:p>
          <a:p>
            <a:pPr>
              <a:buNone/>
            </a:pPr>
            <a:r>
              <a:rPr lang="en-IN" dirty="0"/>
              <a:t>Shipments delayed by more than 120 hours should be investigated to identify operational bottlenecks.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6. Use KPI-Based Monitoring</a:t>
            </a:r>
          </a:p>
          <a:p>
            <a:pPr>
              <a:buNone/>
            </a:pPr>
            <a:r>
              <a:rPr lang="en-IN" dirty="0"/>
              <a:t>Regularly monitor On-Time Delivery %, Average Delay, Route Efficiency and Warehouse Utilization to support data-driven logistics decisions.</a:t>
            </a:r>
          </a:p>
        </p:txBody>
      </p:sp>
    </p:spTree>
    <p:extLst>
      <p:ext uri="{BB962C8B-B14F-4D97-AF65-F5344CB8AC3E}">
        <p14:creationId xmlns:p14="http://schemas.microsoft.com/office/powerpoint/2010/main" val="3322141733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39</TotalTime>
  <Words>1709</Words>
  <Application>Microsoft Office PowerPoint</Application>
  <PresentationFormat>Widescreen</PresentationFormat>
  <Paragraphs>223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Arial Nova Light</vt:lpstr>
      <vt:lpstr>Calibri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Deepti Agrawal</dc:creator>
  <cp:lastModifiedBy>Deepti Agrawal</cp:lastModifiedBy>
  <cp:revision>3</cp:revision>
  <dcterms:created xsi:type="dcterms:W3CDTF">2026-08-21T11:39:12Z</dcterms:created>
  <dcterms:modified xsi:type="dcterms:W3CDTF">2026-08-21T12:18:50Z</dcterms:modified>
</cp:coreProperties>
</file>